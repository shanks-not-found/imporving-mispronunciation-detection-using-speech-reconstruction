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Improving Mispronunciation Detection Using Speech Reconstruction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Multi-Task Learning (MTL) approach combining Mispronunciation Detection (MDD) and Text-to-Speech (TTS) for better pronunciation correction and generalization.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Concept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MDD predicts phone sequences from learner speech using wav2vec features.</a:t>
            </a:r>
          </a:p>
          <a:p>
            <a:r>
              <a:t>• TTS reconstructs speech from predicted phones and speaker embeddings.</a:t>
            </a:r>
          </a:p>
          <a:p>
            <a:r>
              <a:t>• Dual losses: CTC (phone prediction) + Reconstruction (speech quality).</a:t>
            </a:r>
          </a:p>
          <a:p>
            <a:r>
              <a:t>• If reconstructed speech ≈ original → improved pronunciation detection.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1828800" cy="914400"/>
          </a:xfrm>
          <a:prstGeom prst="rect">
            <a:avLst/>
          </a:prstGeom>
          <a:solidFill>
            <a:srgbClr val="6699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MDD Module</a:t>
            </a:r>
          </a:p>
          <a:p>
            <a:r>
              <a:t>(Predict Phones)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2743200"/>
            <a:ext cx="1828800" cy="914400"/>
          </a:xfrm>
          <a:prstGeom prst="rect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TTS Module</a:t>
            </a:r>
          </a:p>
          <a:p>
            <a:r>
              <a:t>(Reconstruct Speech)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743200" y="3017520"/>
            <a:ext cx="914400" cy="36576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Training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Datasets: TIMIT (native) + L2-ARCTIC (non-native from 6 languages)</a:t>
            </a:r>
          </a:p>
          <a:p>
            <a:r>
              <a:t>• Unified 40-phone set, resampled to 16 kHz for consistency</a:t>
            </a:r>
          </a:p>
          <a:p>
            <a:r>
              <a:t>• Train on 18 speakers, test on 6 unseen speakers</a:t>
            </a:r>
          </a:p>
          <a:p>
            <a:r>
              <a:t>• Evaluated on both seen and unseen sentences</a:t>
            </a:r>
          </a:p>
        </p:txBody>
      </p:sp>
      <p:sp>
        <p:nvSpPr>
          <p:cNvPr id="4" name="Chevron 3"/>
          <p:cNvSpPr/>
          <p:nvPr/>
        </p:nvSpPr>
        <p:spPr>
          <a:xfrm>
            <a:off x="914400" y="2743200"/>
            <a:ext cx="3657600" cy="1371600"/>
          </a:xfrm>
          <a:prstGeom prst="chevron">
            <a:avLst/>
          </a:prstGeom>
          <a:solidFill>
            <a:srgbClr val="FFCC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TIMIT → Native English (4.5 hrs)</a:t>
            </a:r>
          </a:p>
          <a:p>
            <a:r>
              <a:t>L2-ARCTIC → 6 Non-native Accents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Seen Sentences: Correctness 90.1% vs 87.6% (baseline)</a:t>
            </a:r>
          </a:p>
          <a:p>
            <a:r>
              <a:t>• Unseen Sentences: Comparable to baseline seen → improved generalization</a:t>
            </a:r>
          </a:p>
          <a:p>
            <a:r>
              <a:t>• Subjective Tests: Canonical phones = more intelligible (5.16), less accented (5.03)</a:t>
            </a:r>
          </a:p>
          <a:p>
            <a:r>
              <a:t>• Accent detection validated via listener experiments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5029200" cy="1371600"/>
          </a:xfrm>
          <a:prstGeom prst="rect">
            <a:avLst/>
          </a:prstGeom>
          <a:solidFill>
            <a:srgbClr val="E6E6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📊 Correctness ↑ 90.1% | Accuracy ↑ 87.9% | F1 ↑ +5.4%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First system to combine MDD and TTS → improved accuracy &amp; generalization</a:t>
            </a:r>
          </a:p>
          <a:p>
            <a:r>
              <a:t>• Enables effective computer-assisted pronunciation training</a:t>
            </a:r>
          </a:p>
          <a:p>
            <a:r>
              <a:t>• Future work:</a:t>
            </a:r>
          </a:p>
          <a:p>
            <a:r>
              <a:t>   - Add prosody control for natural speech</a:t>
            </a:r>
          </a:p>
          <a:p>
            <a:r>
              <a:t>   - Generate synthetic mispronounced data for augmentation</a:t>
            </a:r>
          </a:p>
          <a:p>
            <a:r>
              <a:t>   - Optimize TTS for deployment efficiency</a:t>
            </a:r>
          </a:p>
        </p:txBody>
      </p:sp>
      <p:sp>
        <p:nvSpPr>
          <p:cNvPr id="4" name="Oval 3"/>
          <p:cNvSpPr/>
          <p:nvPr/>
        </p:nvSpPr>
        <p:spPr>
          <a:xfrm>
            <a:off x="914400" y="2743200"/>
            <a:ext cx="914400" cy="914400"/>
          </a:xfrm>
          <a:prstGeom prst="ellipse">
            <a:avLst/>
          </a:prstGeom>
          <a:solidFill>
            <a:srgbClr val="6495E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0" y="2743200"/>
            <a:ext cx="914400" cy="914400"/>
          </a:xfrm>
          <a:prstGeom prst="ellipse">
            <a:avLst/>
          </a:prstGeom>
          <a:solidFill>
            <a:srgbClr val="3CB37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